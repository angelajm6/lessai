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49db7182864174" /><Relationship Type="http://schemas.openxmlformats.org/officeDocument/2006/relationships/extended-properties" Target="/docProps/app.xml" Id="Rca09502683e84414" /><Relationship Type="http://schemas.openxmlformats.org/officeDocument/2006/relationships/officeDocument" Target="/ppt/presentation.xml" Id="R806fb2d3676341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8d4e0a674a4b9b"/>
  </p:sldMasterIdLst>
  <p:notesMasterIdLst>
    <p:notesMasterId xmlns:r="http://schemas.openxmlformats.org/officeDocument/2006/relationships" r:id="Reb31ec81effd45dc"/>
  </p:notesMasterIdLst>
  <p:sldIdLst>
    <p:sldId xmlns:r="http://schemas.openxmlformats.org/officeDocument/2006/relationships" id="256" r:id="R7f651dfd03a34b9f"/>
    <p:sldId xmlns:r="http://schemas.openxmlformats.org/officeDocument/2006/relationships" id="257" r:id="Re60eec8d8a804003"/>
    <p:sldId xmlns:r="http://schemas.openxmlformats.org/officeDocument/2006/relationships" id="258" r:id="R57a2254be3ca4eac"/>
    <p:sldId xmlns:r="http://schemas.openxmlformats.org/officeDocument/2006/relationships" id="259" r:id="R8b6c0edb64154d8b"/>
    <p:sldId xmlns:r="http://schemas.openxmlformats.org/officeDocument/2006/relationships" id="260" r:id="Rfc0d6afdd0164aa2"/>
    <p:sldId xmlns:r="http://schemas.openxmlformats.org/officeDocument/2006/relationships" id="261" r:id="Rd55599268633461d"/>
    <p:sldId xmlns:r="http://schemas.openxmlformats.org/officeDocument/2006/relationships" id="262" r:id="Rd6acd39cbc214fa9"/>
    <p:sldId xmlns:r="http://schemas.openxmlformats.org/officeDocument/2006/relationships" id="263" r:id="Re65c0d65c9844728"/>
    <p:sldId xmlns:r="http://schemas.openxmlformats.org/officeDocument/2006/relationships" id="264" r:id="R391f289813654d62"/>
    <p:sldId xmlns:r="http://schemas.openxmlformats.org/officeDocument/2006/relationships" id="265" r:id="Rc93e834703f043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f9d7128dc64896" /><Relationship Type="http://schemas.openxmlformats.org/officeDocument/2006/relationships/slideMaster" Target="/ppt/slideMasters/slideMaster1.xml" Id="Rc48d4e0a674a4b9b" /><Relationship Type="http://schemas.openxmlformats.org/officeDocument/2006/relationships/notesMaster" Target="/ppt/notesMasters/notesMaster1.xml" Id="Reb31ec81effd45dc" /><Relationship Type="http://schemas.openxmlformats.org/officeDocument/2006/relationships/presProps" Target="/ppt/presProps.xml" Id="Rbc818dc70f824c35" /><Relationship Type="http://schemas.openxmlformats.org/officeDocument/2006/relationships/tableStyles" Target="/ppt/tableStyles.xml" Id="Rce5172ee628f4609" /><Relationship Type="http://schemas.openxmlformats.org/officeDocument/2006/relationships/slide" Target="/ppt/slides/slide1.xml" Id="R7f651dfd03a34b9f" /><Relationship Type="http://schemas.openxmlformats.org/officeDocument/2006/relationships/slide" Target="/ppt/slides/slide2.xml" Id="Re60eec8d8a804003" /><Relationship Type="http://schemas.openxmlformats.org/officeDocument/2006/relationships/slide" Target="/ppt/slides/slide3.xml" Id="R57a2254be3ca4eac" /><Relationship Type="http://schemas.openxmlformats.org/officeDocument/2006/relationships/slide" Target="/ppt/slides/slide4.xml" Id="R8b6c0edb64154d8b" /><Relationship Type="http://schemas.openxmlformats.org/officeDocument/2006/relationships/slide" Target="/ppt/slides/slide5.xml" Id="Rfc0d6afdd0164aa2" /><Relationship Type="http://schemas.openxmlformats.org/officeDocument/2006/relationships/slide" Target="/ppt/slides/slide6.xml" Id="Rd55599268633461d" /><Relationship Type="http://schemas.openxmlformats.org/officeDocument/2006/relationships/slide" Target="/ppt/slides/slide7.xml" Id="Rd6acd39cbc214fa9" /><Relationship Type="http://schemas.openxmlformats.org/officeDocument/2006/relationships/slide" Target="/ppt/slides/slide8.xml" Id="Re65c0d65c9844728" /><Relationship Type="http://schemas.openxmlformats.org/officeDocument/2006/relationships/slide" Target="/ppt/slides/slide9.xml" Id="R391f289813654d62" /><Relationship Type="http://schemas.openxmlformats.org/officeDocument/2006/relationships/slide" Target="/ppt/slides/slide10.xml" Id="Rc93e834703f043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30213b44c648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3504635fd746d9" /><Relationship Type="http://schemas.openxmlformats.org/officeDocument/2006/relationships/notesMaster" Target="/ppt/notesMasters/notesMaster1.xml" Id="Ree9a06ca53194b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f72668e67e440f" /><Relationship Type="http://schemas.openxmlformats.org/officeDocument/2006/relationships/notesMaster" Target="/ppt/notesMasters/notesMaster1.xml" Id="R876c8b3eda5447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d3eb673b684306" /><Relationship Type="http://schemas.openxmlformats.org/officeDocument/2006/relationships/notesMaster" Target="/ppt/notesMasters/notesMaster1.xml" Id="R8c7e042ab6e449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2b79ec5377431f" /><Relationship Type="http://schemas.openxmlformats.org/officeDocument/2006/relationships/notesMaster" Target="/ppt/notesMasters/notesMaster1.xml" Id="Rfdbf75979d9c45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c396ffeddd450b" /><Relationship Type="http://schemas.openxmlformats.org/officeDocument/2006/relationships/notesMaster" Target="/ppt/notesMasters/notesMaster1.xml" Id="R34bc486f6df143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3229eaeadd43b2" /><Relationship Type="http://schemas.openxmlformats.org/officeDocument/2006/relationships/notesMaster" Target="/ppt/notesMasters/notesMaster1.xml" Id="Rf95c6646482345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7e2b0d8dcb4472" /><Relationship Type="http://schemas.openxmlformats.org/officeDocument/2006/relationships/notesMaster" Target="/ppt/notesMasters/notesMaster1.xml" Id="R42143cb3793541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54ea05a3c14d00" /><Relationship Type="http://schemas.openxmlformats.org/officeDocument/2006/relationships/notesMaster" Target="/ppt/notesMasters/notesMaster1.xml" Id="R5cfd4357154346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d3e85185254240" /><Relationship Type="http://schemas.openxmlformats.org/officeDocument/2006/relationships/notesMaster" Target="/ppt/notesMasters/notesMaster1.xml" Id="R0bd57e97e3fb44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32c0a22f524479" /><Relationship Type="http://schemas.openxmlformats.org/officeDocument/2006/relationships/notesMaster" Target="/ppt/notesMasters/notesMaster1.xml" Id="R84194064405a4d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outcome: LessAI helps teams get more from AI tools they already pay for.</a:t>
            </a:r>
          </a:p>
          <a:p xmlns:a="http://schemas.openxmlformats.org/drawingml/2006/main">
            <a:r>
              <a:t>[Sources] Brand visual: LessAI public asset (public/lessai-linkedin-banner-v2.png). Product claim: LessAI repository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problem is not a lack of AI products. It is a lack of contextual, sustained enablement.</a:t>
            </a:r>
          </a:p>
          <a:p xmlns:a="http://schemas.openxmlformats.org/drawingml/2006/main">
            <a:r>
              <a:t>[Sources] Workday, “Measuring the Real Value of AI” (2026): 37% of time saved by AI is offset by rework. https://www.workday.com/en-us/artificial-intelligence/research/beyond-productivity-ai-value.html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product is designed around repeated practice, not another generic content library.</a:t>
            </a:r>
          </a:p>
          <a:p xmlns:a="http://schemas.openxmlformats.org/drawingml/2006/main">
            <a:r>
              <a:t>[Sources] Product design and feature claims: LessAI repository README and application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user story concrete: individual usefulness creates the data leaders need.</a:t>
            </a:r>
          </a:p>
          <a:p xmlns:a="http://schemas.openxmlformats.org/drawingml/2006/main">
            <a:r>
              <a:t>[Sources] Target-user framing and feature claims: LessAI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core product loop to show in the demo. It makes the AI role specific and habit forming.</a:t>
            </a:r>
          </a:p>
          <a:p xmlns:a="http://schemas.openxmlformats.org/drawingml/2006/main">
            <a:r>
              <a:t>[Sources] Product flow: LessAI onboarding and dashboard source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AI role precisely: structured generation creates playbooks and tasks, while coaching workflows improve prompts and recommend tools.</a:t>
            </a:r>
          </a:p>
          <a:p xmlns:a="http://schemas.openxmlformats.org/drawingml/2006/main">
            <a:r>
              <a:t>[Sources] Model names and system architecture: src/lib/claude.ts and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signals that the product is a complete application, with security patterns appropriate for multi-user SaaS.</a:t>
            </a:r>
          </a:p>
          <a:p xmlns:a="http://schemas.openxmlformats.org/drawingml/2006/main">
            <a:r>
              <a:t>[Sources] LessAI README; Supabase schema; src/lib/claude.ts.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make unsupported ROI claims. Explain the value proposition and the evidence the product makes possible.</a:t>
            </a:r>
          </a:p>
          <a:p xmlns:a="http://schemas.openxmlformats.org/drawingml/2006/main">
            <a:r>
              <a:t>[Sources] Value proposition: LessAI README and product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judges hear that it is a working prototype and see the proposed demo path. Only claim flows that have been tested before presenting.</a:t>
            </a:r>
          </a:p>
          <a:p xmlns:a="http://schemas.openxmlformats.org/drawingml/2006/main">
            <a:r>
              <a:t>[Sources] Product capabilities: LessAI README, demo script, and application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disciplined roadmap: validate with users, measure outcomes, then scale the organizational layer.</a:t>
            </a:r>
          </a:p>
          <a:p xmlns:a="http://schemas.openxmlformats.org/drawingml/2006/main">
            <a:r>
              <a:t>[Sources] Roadmap is a proposed plan. Brand line: LessAI public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e00386e0b542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6bc2aba23e49ad" /><Relationship Type="http://schemas.openxmlformats.org/officeDocument/2006/relationships/slideLayout" Target="/ppt/slideLayouts/slideLayout1.xml" Id="R632b0a2725a04c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2b0a2725a04c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05bc360cd4975" /><Relationship Type="http://schemas.openxmlformats.org/officeDocument/2006/relationships/image" Target="/ppt/media/image.png" Id="R41ca0f4d12114c36" /><Relationship Type="http://schemas.openxmlformats.org/officeDocument/2006/relationships/notesSlide" Target="/ppt/notesSlides/notesSlide1.xml" Id="R9d3cd27445bf43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be254461144a2" /><Relationship Type="http://schemas.openxmlformats.org/officeDocument/2006/relationships/notesSlide" Target="/ppt/notesSlides/notesSlide2.xml" Id="Rc1a491c7d7b74c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9abd43d89457c" /><Relationship Type="http://schemas.openxmlformats.org/officeDocument/2006/relationships/notesSlide" Target="/ppt/notesSlides/notesSlide3.xml" Id="Rca36aaf95f8846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011d028e04d70" /><Relationship Type="http://schemas.openxmlformats.org/officeDocument/2006/relationships/notesSlide" Target="/ppt/notesSlides/notesSlide4.xml" Id="R8d1768096c6548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faaeb30d14b69" /><Relationship Type="http://schemas.openxmlformats.org/officeDocument/2006/relationships/notesSlide" Target="/ppt/notesSlides/notesSlide5.xml" Id="R81c0dd38117e47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f8947a88843cf" /><Relationship Type="http://schemas.openxmlformats.org/officeDocument/2006/relationships/notesSlide" Target="/ppt/notesSlides/notesSlide6.xml" Id="Rdb22d07f920740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dbc87420a4719" /><Relationship Type="http://schemas.openxmlformats.org/officeDocument/2006/relationships/notesSlide" Target="/ppt/notesSlides/notesSlide7.xml" Id="R0aeabf8bae5549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79d982aa44ee2" /><Relationship Type="http://schemas.openxmlformats.org/officeDocument/2006/relationships/notesSlide" Target="/ppt/notesSlides/notesSlide8.xml" Id="R6168a3a2001d4d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4a6603f864045" /><Relationship Type="http://schemas.openxmlformats.org/officeDocument/2006/relationships/notesSlide" Target="/ppt/notesSlides/notesSlide9.xml" Id="R78b4f06c726349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1a861da0148c0" /><Relationship Type="http://schemas.openxmlformats.org/officeDocument/2006/relationships/notesSlide" Target="/ppt/notesSlides/notesSlide10.xml" Id="Rdb73b04ef2ad40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2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a0f4d12114c3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62D8E-000C-4972-9090-8E31D11B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14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BDF15-F702-4CC1-B265-990B11E8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EAD4"/>
                </a:solidFill>
              </a:defRPr>
            </a:pPr>
            <a:r>
              <a:rPr sz="1200" b="1">
                <a:solidFill>
                  <a:srgbClr val="5EEAD4"/>
                </a:solidFill>
              </a:rPr>
              <a:t>LESSAI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DE796-E843-4083-9677-4DECEBD4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524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The AI enablement layer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for real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1DF95-E649-4A40-9593-1444D1B9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1FAE5"/>
                </a:solidFill>
              </a:defRPr>
            </a:pPr>
            <a:r>
              <a:rPr sz="1800" b="0">
                <a:solidFill>
                  <a:srgbClr val="D1FAE5"/>
                </a:solidFill>
              </a:rPr>
              <a:t>Personalized coaching that turns AI tool access into practical skill, better prompts, and measurable team adoption.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C7930-B584-4C2B-8DE8-36C53C03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AI Builders Hackathon  •  Working product: lessai.io</a:t>
            </a:r>
          </a:p>
        </p:txBody>
      </p:sp>
    </p:spTree>
    <p:extLst>
      <p:ext uri="{BB962C8B-B14F-4D97-AF65-F5344CB8AC3E}">
        <p14:creationId xmlns:p14="http://schemas.microsoft.com/office/powerpoint/2010/main" val="1131713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760B5-322C-49F8-81E5-0D1DE424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1985F-322C-4B61-85D0-0FE5B324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D1B16"/>
                </a:solidFill>
              </a:defRPr>
            </a:pPr>
            <a:r>
              <a:rPr sz="2925" b="1">
                <a:solidFill>
                  <a:srgbClr val="0D1B16"/>
                </a:solidFill>
              </a:rPr>
              <a:t>AI adoption has a human bottleneck.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D7FDD-8A50-4613-9C4D-C3C50890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B63"/>
                </a:solidFill>
              </a:defRPr>
            </a:pPr>
            <a:r>
              <a:rPr sz="1425" b="0">
                <a:solidFill>
                  <a:srgbClr val="5B6B63"/>
                </a:solidFill>
              </a:rPr>
              <a:t>Teams get powerful tools, but not a repeatable way to learn how to use them in their real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C1E67-2F55-416A-B1A4-C861FF34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C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FEB83-7E0A-40EC-B9D1-0F371F92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59669"/>
                </a:solidFill>
              </a:defRPr>
            </a:pPr>
            <a:r>
              <a:rPr sz="5400" b="1">
                <a:solidFill>
                  <a:srgbClr val="059669"/>
                </a:solidFill>
              </a:rPr>
              <a:t>37%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9ABD0-C03D-46A5-8D3B-FD76F74B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B16"/>
                </a:solidFill>
              </a:defRPr>
            </a:pPr>
            <a:r>
              <a:rPr sz="1650" b="1">
                <a:solidFill>
                  <a:srgbClr val="0D1B16"/>
                </a:solidFill>
              </a:rPr>
              <a:t>of time saved by AI is offset by rework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65026F-0B2F-421F-BE0F-CCA3B544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3238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B63"/>
                </a:solidFill>
              </a:defRPr>
            </a:pPr>
            <a:r>
              <a:rPr sz="1425" b="0">
                <a:solidFill>
                  <a:srgbClr val="5B6B63"/>
                </a:solidFill>
              </a:rPr>
              <a:t>Generic prompting creates generic output — then employees spend time correcting, re-contextualizing, and starting over.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49E72-3D7D-4283-A1FC-26F51A32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6286500" cy="25146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FC415-F5FD-42AE-BDF2-808B4067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146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1B16"/>
                </a:solidFill>
              </a:defRPr>
            </a:pPr>
            <a:r>
              <a:rPr sz="1800" b="1">
                <a:solidFill>
                  <a:srgbClr val="0D1B16"/>
                </a:solidFill>
              </a:rPr>
              <a:t>What teams are missing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F3B7E5-AA3D-4EE0-A352-C9A21FED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623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DF0EE-5397-42D7-9780-116E0EE3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67100"/>
            <a:ext cx="512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D1B16"/>
                </a:solidFill>
              </a:defRPr>
            </a:pPr>
            <a:r>
              <a:rPr sz="1425" b="0">
                <a:solidFill>
                  <a:srgbClr val="0D1B16"/>
                </a:solidFill>
              </a:rPr>
              <a:t>Role-specific practice, not a one-size-fits-all course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D32D0-13F0-44E4-B341-15784F9F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38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F0994-7D43-42FC-A19F-5ED79981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43350"/>
            <a:ext cx="512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D1B16"/>
                </a:solidFill>
              </a:defRPr>
            </a:pPr>
            <a:r>
              <a:rPr sz="1425" b="0">
                <a:solidFill>
                  <a:srgbClr val="0D1B16"/>
                </a:solidFill>
              </a:rPr>
              <a:t>Feedback on the prompts people actually 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F0986-1271-4AAA-BDFA-60F5A769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14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8716B-58A7-491E-AD4A-41E98752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19600"/>
            <a:ext cx="512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D1B16"/>
                </a:solidFill>
              </a:defRPr>
            </a:pPr>
            <a:r>
              <a:rPr sz="1425" b="0">
                <a:solidFill>
                  <a:srgbClr val="0D1B16"/>
                </a:solidFill>
              </a:rPr>
              <a:t>Visibility into whether usage is becoming skill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E0813-C211-4ED1-B34F-D5A74AF9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B63"/>
                </a:solidFill>
              </a:defRPr>
            </a:pPr>
            <a:r>
              <a:rPr sz="825" b="1">
                <a:solidFill>
                  <a:srgbClr val="5B6B63"/>
                </a:solidFill>
              </a:rPr>
              <a:t>LESSAI  /  AI BUILDERS HACKATHON  /  02</a:t>
            </a:r>
          </a:p>
        </p:txBody>
      </p:sp>
    </p:spTree>
    <p:extLst>
      <p:ext uri="{BB962C8B-B14F-4D97-AF65-F5344CB8AC3E}">
        <p14:creationId xmlns:p14="http://schemas.microsoft.com/office/powerpoint/2010/main" val="1381955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EAA912-4BFE-4598-BF6C-39220B7F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270DA-F49B-48DC-BD00-458A0924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D1B16"/>
                </a:solidFill>
              </a:defRPr>
            </a:pPr>
            <a:r>
              <a:rPr sz="2925" b="1">
                <a:solidFill>
                  <a:srgbClr val="0D1B16"/>
                </a:solidFill>
              </a:rPr>
              <a:t>Personal, practical AI learning.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3C644-B9D7-4EE0-B6EE-9A024841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B63"/>
                </a:solidFill>
              </a:defRPr>
            </a:pPr>
            <a:r>
              <a:rPr sz="1425" b="0">
                <a:solidFill>
                  <a:srgbClr val="5B6B63"/>
                </a:solidFill>
              </a:rPr>
              <a:t>It connects a person’s role, tool stack, skill level, and company context to the next useful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DCF1C-E260-481A-90E4-5AB6A02F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C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66F1C-8A3D-40D7-A7CB-BBDFCE85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34315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D0C9E-5BE9-4078-BAD9-3BF5573F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9669"/>
                </a:solidFill>
              </a:defRPr>
            </a:pPr>
            <a:r>
              <a:rPr sz="2250" b="1">
                <a:solidFill>
                  <a:srgbClr val="059669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2DBFD-D613-487F-8184-A1611D25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1B16"/>
                </a:solidFill>
              </a:defRPr>
            </a:pPr>
            <a:r>
              <a:rPr sz="1350" b="1">
                <a:solidFill>
                  <a:srgbClr val="0D1B16"/>
                </a:solidFill>
              </a:rPr>
              <a:t>UNDERSTAND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49C31-0DF8-4519-994D-48435E07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1885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3"/>
                </a:solidFill>
              </a:defRPr>
            </a:pPr>
            <a:r>
              <a:rPr sz="1200" b="0">
                <a:solidFill>
                  <a:srgbClr val="5B6B63"/>
                </a:solidFill>
              </a:rPr>
              <a:t>Role, tools, skill level, company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8D820-28FB-4846-9CA3-6C10EC95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5909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D607D-E569-49CE-A42E-F888682E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81300"/>
            <a:ext cx="234315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54F5F-CC80-4805-A918-16348C23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9669"/>
                </a:solidFill>
              </a:defRPr>
            </a:pPr>
            <a:r>
              <a:rPr sz="2250" b="1">
                <a:solidFill>
                  <a:srgbClr val="059669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E3207-3390-474C-9A42-3E412D5C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623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1B16"/>
                </a:solidFill>
              </a:defRPr>
            </a:pPr>
            <a:r>
              <a:rPr sz="1350" b="1">
                <a:solidFill>
                  <a:srgbClr val="0D1B16"/>
                </a:solidFill>
              </a:rPr>
              <a:t>COACH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D67F7-ED14-46A6-AEF0-B2C8CFB3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81450"/>
            <a:ext cx="1885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3"/>
                </a:solidFill>
              </a:defRPr>
            </a:pPr>
            <a:r>
              <a:rPr sz="1200" b="0">
                <a:solidFill>
                  <a:srgbClr val="5B6B63"/>
                </a:solidFill>
              </a:rPr>
              <a:t>Playbooks, daily tasks, tool guidance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7B68F1-7B25-4A85-91F9-908A8AD2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5909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99C2B-AC9B-40D0-89E9-B36553D9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81300"/>
            <a:ext cx="234315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60225D-2E33-4568-AFA7-F7EF25DD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9669"/>
                </a:solidFill>
              </a:defRPr>
            </a:pPr>
            <a:r>
              <a:rPr sz="2250" b="1">
                <a:solidFill>
                  <a:srgbClr val="059669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E5043F-E40F-4544-8B36-3F3961A6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623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1B16"/>
                </a:solidFill>
              </a:defRPr>
            </a:pPr>
            <a:r>
              <a:rPr sz="1350" b="1">
                <a:solidFill>
                  <a:srgbClr val="0D1B16"/>
                </a:solidFill>
              </a:rPr>
              <a:t>IMPROVE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CC0026-8C7F-4020-8F67-2456922B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81450"/>
            <a:ext cx="1885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3"/>
                </a:solidFill>
              </a:defRPr>
            </a:pPr>
            <a:r>
              <a:rPr sz="1200" b="0">
                <a:solidFill>
                  <a:srgbClr val="5B6B63"/>
                </a:solidFill>
              </a:rPr>
              <a:t>Prompt feedback and task-ready outputs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6AEAE7-25B0-4B1F-B5B9-789BAAAD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909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F2295-D6E8-4053-A35F-3B5C8263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234315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1239E3-A278-45FF-8C34-BFA39E96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9669"/>
                </a:solidFill>
              </a:defRPr>
            </a:pPr>
            <a:r>
              <a:rPr sz="2250" b="1">
                <a:solidFill>
                  <a:srgbClr val="059669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78FA9A-1C9D-4FB0-868C-5906D515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623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1B16"/>
                </a:solidFill>
              </a:defRPr>
            </a:pPr>
            <a:r>
              <a:rPr sz="1350" b="1">
                <a:solidFill>
                  <a:srgbClr val="0D1B16"/>
                </a:solidFill>
              </a:rPr>
              <a:t>MEASURE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7426C4-99F8-4D64-B31B-68A152DC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81450"/>
            <a:ext cx="1885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3"/>
                </a:solidFill>
              </a:defRPr>
            </a:pPr>
            <a:r>
              <a:rPr sz="1200" b="0">
                <a:solidFill>
                  <a:srgbClr val="5B6B63"/>
                </a:solidFill>
              </a:rPr>
              <a:t>XP, streaks, completion, team visibility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175C33-A73A-492D-A841-A922ABAB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1B16"/>
                </a:solidFill>
              </a:defRPr>
            </a:pPr>
            <a:r>
              <a:rPr sz="1875" b="1">
                <a:solidFill>
                  <a:srgbClr val="0D1B16"/>
                </a:solidFill>
              </a:rPr>
              <a:t>The result: every employee gets a clear, contextual path from “I have an AI tool” to “I know how to use it well.”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55DCE0-0096-4633-BA1D-0C8C6ED9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B63"/>
                </a:solidFill>
              </a:defRPr>
            </a:pPr>
            <a:r>
              <a:rPr sz="825" b="1">
                <a:solidFill>
                  <a:srgbClr val="5B6B63"/>
                </a:solidFill>
              </a:rPr>
              <a:t>LESSAI  /  AI BUILDERS HACKATHON  /  03</a:t>
            </a:r>
          </a:p>
        </p:txBody>
      </p:sp>
    </p:spTree>
    <p:extLst>
      <p:ext uri="{BB962C8B-B14F-4D97-AF65-F5344CB8AC3E}">
        <p14:creationId xmlns:p14="http://schemas.microsoft.com/office/powerpoint/2010/main" val="364708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1003CE-EFAB-433D-8AC0-2A841B30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WHO IT IS FOR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F94D4-C024-4372-B69A-004222A2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D1B16"/>
                </a:solidFill>
              </a:defRPr>
            </a:pPr>
            <a:r>
              <a:rPr sz="2925" b="1">
                <a:solidFill>
                  <a:srgbClr val="0D1B16"/>
                </a:solidFill>
              </a:rPr>
              <a:t>LessAI serves the people doing the work — and the leaders accountable for enablement.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53A47-A478-474F-ABBF-8F9B55CD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C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59D76-C3ED-4FB1-8E27-F108A237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8577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C8D22-E5B7-488C-9FE1-291E323A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1B16"/>
                </a:solidFill>
              </a:defRPr>
            </a:pPr>
            <a:r>
              <a:rPr sz="2100" b="1">
                <a:solidFill>
                  <a:srgbClr val="0D1B16"/>
                </a:solidFill>
              </a:rPr>
              <a:t>Knowledge workers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B4F3B-C54B-4120-A960-4A4FC2A8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B63"/>
                </a:solidFill>
              </a:defRPr>
            </a:pPr>
            <a:r>
              <a:rPr sz="1500" b="0">
                <a:solidFill>
                  <a:srgbClr val="5B6B63"/>
                </a:solidFill>
              </a:rPr>
              <a:t>For people who use AI at work but need practical, role-specific confidence.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5AE6B-9174-4AFF-AFF0-BA96C48D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ED1BD-E919-4252-ACC4-CC390296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33850"/>
            <a:ext cx="350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D1B16"/>
                </a:solidFill>
              </a:defRPr>
            </a:pPr>
            <a:r>
              <a:rPr sz="1425" b="0">
                <a:solidFill>
                  <a:srgbClr val="0D1B16"/>
                </a:solidFill>
              </a:rPr>
              <a:t>Daily practice that fits real tasks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F8694-6A6F-4850-A099-D74020C8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56807-7E76-4F4D-BBE6-43BD8D63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72000"/>
            <a:ext cx="350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D1B16"/>
                </a:solidFill>
              </a:defRPr>
            </a:pPr>
            <a:r>
              <a:rPr sz="1425" b="0">
                <a:solidFill>
                  <a:srgbClr val="0D1B16"/>
                </a:solidFill>
              </a:rPr>
              <a:t>Reusable prompts that improve over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E5C5A-2084-4365-80A3-994B1C63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47950"/>
            <a:ext cx="48577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B35CD-CAEC-4A52-B7CE-F4FF3263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33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1B16"/>
                </a:solidFill>
              </a:defRPr>
            </a:pPr>
            <a:r>
              <a:rPr sz="2100" b="1">
                <a:solidFill>
                  <a:srgbClr val="0D1B16"/>
                </a:solidFill>
              </a:rPr>
              <a:t>Team leaders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1F868-CE44-44E9-808D-45B84B80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909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B63"/>
                </a:solidFill>
              </a:defRPr>
            </a:pPr>
            <a:r>
              <a:rPr sz="1500" b="0">
                <a:solidFill>
                  <a:srgbClr val="5B6B63"/>
                </a:solidFill>
              </a:rPr>
              <a:t>For managers who need to turn AI access into measurable workforce capability.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1C6B7-2EF6-4ADC-832A-1DCACC77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29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6A6FC-AB32-4080-A430-DCFA9FE4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3385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D1B16"/>
                </a:solidFill>
              </a:defRPr>
            </a:pPr>
            <a:r>
              <a:rPr sz="1425" b="0">
                <a:solidFill>
                  <a:srgbClr val="0D1B16"/>
                </a:solidFill>
              </a:rPr>
              <a:t>Activity and skill-gap visibility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F054F-9577-4447-8951-93569E8D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672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192C5D-1DC0-4BDA-8C12-99104958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D1B16"/>
                </a:solidFill>
              </a:defRPr>
            </a:pPr>
            <a:r>
              <a:rPr sz="1425" b="0">
                <a:solidFill>
                  <a:srgbClr val="0D1B16"/>
                </a:solidFill>
              </a:rPr>
              <a:t>Targeted coaching instead of guesswork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F426A1-684A-47EC-B186-25B343C4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B63"/>
                </a:solidFill>
              </a:defRPr>
            </a:pPr>
            <a:r>
              <a:rPr sz="825" b="1">
                <a:solidFill>
                  <a:srgbClr val="5B6B63"/>
                </a:solidFill>
              </a:rPr>
              <a:t>LESSAI  /  AI BUILDERS HACKATHON  /  04</a:t>
            </a:r>
          </a:p>
        </p:txBody>
      </p:sp>
    </p:spTree>
    <p:extLst>
      <p:ext uri="{BB962C8B-B14F-4D97-AF65-F5344CB8AC3E}">
        <p14:creationId xmlns:p14="http://schemas.microsoft.com/office/powerpoint/2010/main" val="1633029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6FA48A-FD9E-4729-B9A2-14DEE952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46862-8202-47AA-8165-E409CFE2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D1B16"/>
                </a:solidFill>
              </a:defRPr>
            </a:pPr>
            <a:r>
              <a:rPr sz="2925" b="1">
                <a:solidFill>
                  <a:srgbClr val="0D1B16"/>
                </a:solidFill>
              </a:rPr>
              <a:t>One onboarding flow becomes a personalized practice system.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5DC2A-E731-495A-842E-FBA3E407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C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E4AEA-49E6-4058-B6AC-AC94E1E9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809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0ED31-8437-4598-8460-0A94D69C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BDE07-6FD3-404D-A420-835BDD0D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B16"/>
                </a:solidFill>
              </a:defRPr>
            </a:pPr>
            <a:r>
              <a:rPr sz="1650" b="1">
                <a:solidFill>
                  <a:srgbClr val="0D1B16"/>
                </a:solidFill>
              </a:rPr>
              <a:t>Onboard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B0998-A2C3-4D2C-9F0C-7F7D391A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1381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3"/>
                </a:solidFill>
              </a:defRPr>
            </a:pPr>
            <a:r>
              <a:rPr sz="1200" b="0">
                <a:solidFill>
                  <a:srgbClr val="5B6B63"/>
                </a:solidFill>
              </a:rPr>
              <a:t>Role, tools, skill level, company URL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E81B7-8CB9-4AAC-9A92-9474509C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19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59669"/>
                </a:solidFill>
              </a:defRPr>
            </a:pPr>
            <a:r>
              <a:rPr sz="1650" b="1">
                <a:solidFill>
                  <a:srgbClr val="059669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9035D-17AE-486A-BCCD-A9DA6EFC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95600"/>
            <a:ext cx="1809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7F74F-1CDF-40BD-85E7-CE344F81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051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88511-0964-454A-AE5D-81FC1F05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05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B16"/>
                </a:solidFill>
              </a:defRPr>
            </a:pPr>
            <a:r>
              <a:rPr sz="1650" b="1">
                <a:solidFill>
                  <a:srgbClr val="0D1B16"/>
                </a:solidFill>
              </a:rPr>
              <a:t>Generate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CD67F-AC47-4EF2-8465-65E50425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43350"/>
            <a:ext cx="1381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3"/>
                </a:solidFill>
              </a:defRPr>
            </a:pPr>
            <a:r>
              <a:rPr sz="1200" b="0">
                <a:solidFill>
                  <a:srgbClr val="5B6B63"/>
                </a:solidFill>
              </a:rPr>
              <a:t>Tool playbook + tailored task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FFF77-548F-4AEB-B814-B96C4CE3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619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59669"/>
                </a:solidFill>
              </a:defRPr>
            </a:pPr>
            <a:r>
              <a:rPr sz="1650" b="1">
                <a:solidFill>
                  <a:srgbClr val="059669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CE06F-FC11-4B59-BB6E-C5E68CF7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95600"/>
            <a:ext cx="1809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E3BAF-0C9C-42B9-97BD-2D897FEA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051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28360-0081-4ADC-A9AC-6E6B3ADC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05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B16"/>
                </a:solidFill>
              </a:defRPr>
            </a:pPr>
            <a:r>
              <a:rPr sz="1650" b="1">
                <a:solidFill>
                  <a:srgbClr val="0D1B16"/>
                </a:solidFill>
              </a:rPr>
              <a:t>Practice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325460-CCDC-4FAE-BB2E-5C212046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43350"/>
            <a:ext cx="1381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3"/>
                </a:solidFill>
              </a:defRPr>
            </a:pPr>
            <a:r>
              <a:rPr sz="1200" b="0">
                <a:solidFill>
                  <a:srgbClr val="5B6B63"/>
                </a:solidFill>
              </a:rPr>
              <a:t>Short daily tasks; XP and streaks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A5993F-6BED-45FA-9948-73886F0D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619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59669"/>
                </a:solidFill>
              </a:defRPr>
            </a:pPr>
            <a:r>
              <a:rPr sz="1650" b="1">
                <a:solidFill>
                  <a:srgbClr val="059669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4C3911-61E1-4CDF-9BFE-516CCA08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95600"/>
            <a:ext cx="1809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88B0C3-A2F2-4447-ACBE-BB6BB93F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051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DD832A-907B-43FE-AD44-A905F6EB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05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B16"/>
                </a:solidFill>
              </a:defRPr>
            </a:pPr>
            <a:r>
              <a:rPr sz="1650" b="1">
                <a:solidFill>
                  <a:srgbClr val="0D1B16"/>
                </a:solidFill>
              </a:rPr>
              <a:t>Apply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DC8AF6-377F-49BE-AEBE-B626BB42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43350"/>
            <a:ext cx="1381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3"/>
                </a:solidFill>
              </a:defRPr>
            </a:pPr>
            <a:r>
              <a:rPr sz="1200" b="0">
                <a:solidFill>
                  <a:srgbClr val="5B6B63"/>
                </a:solidFill>
              </a:rPr>
              <a:t>Improve a prompt or get a task-ready prompt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6391E4-58D9-4C41-994D-0ED09994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619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59669"/>
                </a:solidFill>
              </a:defRPr>
            </a:pPr>
            <a:r>
              <a:rPr sz="1650" b="1">
                <a:solidFill>
                  <a:srgbClr val="059669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A70036-3EA8-4A25-AB9B-8B824408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95600"/>
            <a:ext cx="1809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6AE292-890E-4DDF-8F0C-1A5AFEBE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051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5ECA5A-68FE-4CE5-B5CA-CA91F3D4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05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B16"/>
                </a:solidFill>
              </a:defRPr>
            </a:pPr>
            <a:r>
              <a:rPr sz="1650" b="1">
                <a:solidFill>
                  <a:srgbClr val="0D1B16"/>
                </a:solidFill>
              </a:rPr>
              <a:t>Learn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2FD0C6-3CD5-4CCD-8BA1-B8DCC326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43350"/>
            <a:ext cx="1381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3"/>
                </a:solidFill>
              </a:defRPr>
            </a:pPr>
            <a:r>
              <a:rPr sz="1200" b="0">
                <a:solidFill>
                  <a:srgbClr val="5B6B63"/>
                </a:solidFill>
              </a:rPr>
              <a:t>Save the prompt; manager sees progress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BCE392-D365-4EFE-A9A2-3A9914AF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1B16"/>
                </a:solidFill>
              </a:defRPr>
            </a:pPr>
            <a:r>
              <a:rPr sz="1875" b="1">
                <a:solidFill>
                  <a:srgbClr val="0D1B16"/>
                </a:solidFill>
              </a:rPr>
              <a:t>LessAI turns setup data into a cycle of coaching, practice, feedback, and evidence.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480ED2-52D1-4845-8C60-98511F80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B63"/>
                </a:solidFill>
              </a:defRPr>
            </a:pPr>
            <a:r>
              <a:rPr sz="825" b="1">
                <a:solidFill>
                  <a:srgbClr val="5B6B63"/>
                </a:solidFill>
              </a:rPr>
              <a:t>LESSAI  /  AI BUILDERS HACKATHON  /  05</a:t>
            </a:r>
          </a:p>
        </p:txBody>
      </p:sp>
    </p:spTree>
    <p:extLst>
      <p:ext uri="{BB962C8B-B14F-4D97-AF65-F5344CB8AC3E}">
        <p14:creationId xmlns:p14="http://schemas.microsoft.com/office/powerpoint/2010/main" val="16363625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644D53-0EC3-4F71-BE72-A85AB300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AI IN 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BE4C9-6CC2-41E1-A5BA-B8A429EC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D1B16"/>
                </a:solidFill>
              </a:defRPr>
            </a:pPr>
            <a:r>
              <a:rPr sz="2925" b="1">
                <a:solidFill>
                  <a:srgbClr val="0D1B16"/>
                </a:solidFill>
              </a:rPr>
              <a:t>AI is the coaching engine.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EAE14-BDA9-48E0-AB0C-B63CC2E1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B63"/>
                </a:solidFill>
              </a:defRPr>
            </a:pPr>
            <a:r>
              <a:rPr sz="1425" b="0">
                <a:solidFill>
                  <a:srgbClr val="5B6B63"/>
                </a:solidFill>
              </a:rPr>
              <a:t>Not a chat window bolted onto a dashboard.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B5B90-3FCA-4734-A2E0-A2B33BCF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C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FA9EB-432D-40EF-8E01-2B9E7ED3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143250" cy="2419350"/>
          </a:xfrm>
          <a:prstGeom xmlns:a="http://schemas.openxmlformats.org/drawingml/2006/main" prst="roundRect">
            <a:avLst>
              <a:gd name="adj" fmla="val 7087"/>
            </a:avLst>
          </a:prstGeom>
          <a:solidFill xmlns:a="http://schemas.openxmlformats.org/drawingml/2006/main">
            <a:srgbClr val="062C23"/>
          </a:solidFill>
          <a:ln xmlns:a="http://schemas.openxmlformats.org/drawingml/2006/main" w="9525">
            <a:solidFill>
              <a:srgbClr val="062C2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1003E-9D37-41C6-8AF2-7DF8D3BE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E7B7"/>
                </a:solidFill>
              </a:defRPr>
            </a:pPr>
            <a:r>
              <a:rPr sz="1050" b="1">
                <a:solidFill>
                  <a:srgbClr val="6EE7B7"/>
                </a:solidFill>
              </a:rPr>
              <a:t>INPUTS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91B1F-5EAB-410E-BB65-9AC2D140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Role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Tool stack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Skill level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Company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042E8-EB13-42E2-9CFE-86616F75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5814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59669"/>
                </a:solidFill>
              </a:defRPr>
            </a:pPr>
            <a:r>
              <a:rPr sz="2700" b="1">
                <a:solidFill>
                  <a:srgbClr val="059669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6898E-53A6-49F8-9F90-3A2FB314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3143250" cy="2419350"/>
          </a:xfrm>
          <a:prstGeom xmlns:a="http://schemas.openxmlformats.org/drawingml/2006/main" prst="roundRect">
            <a:avLst>
              <a:gd name="adj" fmla="val 7087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36EBE-6594-4BCC-B58A-122AF44F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52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CLAUDE VIA OPENROUTER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0406D-9960-4F55-A1C9-8EF0949F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52800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1B16"/>
                </a:solidFill>
              </a:defRPr>
            </a:pPr>
            <a:r>
              <a:rPr sz="2250" b="1">
                <a:solidFill>
                  <a:srgbClr val="0D1B16"/>
                </a:solidFill>
              </a:rPr>
              <a:t>Structured</a:t>
            </a:r>
          </a:p>
          <a:p xmlns:a="http://schemas.openxmlformats.org/drawingml/2006/main">
            <a:pPr algn="l">
              <a:defRPr sz="2250" b="1">
                <a:solidFill>
                  <a:srgbClr val="0D1B16"/>
                </a:solidFill>
              </a:defRPr>
            </a:pPr>
            <a:r>
              <a:rPr sz="2250" b="1">
                <a:solidFill>
                  <a:srgbClr val="0D1B16"/>
                </a:solidFill>
              </a:rPr>
              <a:t>personalized</a:t>
            </a:r>
          </a:p>
          <a:p xmlns:a="http://schemas.openxmlformats.org/drawingml/2006/main">
            <a:pPr algn="l">
              <a:defRPr sz="2250" b="1">
                <a:solidFill>
                  <a:srgbClr val="0D1B16"/>
                </a:solidFill>
              </a:defRPr>
            </a:pPr>
            <a:r>
              <a:rPr sz="2250" b="1">
                <a:solidFill>
                  <a:srgbClr val="0D1B16"/>
                </a:solidFill>
              </a:rPr>
              <a:t>coaching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7C53E-7E2A-4649-AB44-59B73425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814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59669"/>
                </a:solidFill>
              </a:defRPr>
            </a:pPr>
            <a:r>
              <a:rPr sz="2700" b="1">
                <a:solidFill>
                  <a:srgbClr val="059669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7F256-FC11-41F3-8D92-3DCAB357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2667000" cy="2419350"/>
          </a:xfrm>
          <a:prstGeom xmlns:a="http://schemas.openxmlformats.org/drawingml/2006/main" prst="roundRect">
            <a:avLst>
              <a:gd name="adj" fmla="val 7087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6BC681-67ED-458A-9B4E-01501F55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OUTPUTS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5E0092-F295-4A30-8144-AEDA4166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5280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1B16"/>
                </a:solidFill>
              </a:defRPr>
            </a:pPr>
            <a:r>
              <a:rPr sz="1725" b="1">
                <a:solidFill>
                  <a:srgbClr val="0D1B16"/>
                </a:solidFill>
              </a:rPr>
              <a:t>Tasks</a:t>
            </a:r>
          </a:p>
          <a:p xmlns:a="http://schemas.openxmlformats.org/drawingml/2006/main">
            <a:pPr algn="l">
              <a:defRPr sz="1725" b="1">
                <a:solidFill>
                  <a:srgbClr val="0D1B16"/>
                </a:solidFill>
              </a:defRPr>
            </a:pPr>
            <a:r>
              <a:rPr sz="1725" b="1">
                <a:solidFill>
                  <a:srgbClr val="0D1B16"/>
                </a:solidFill>
              </a:rPr>
              <a:t>Playbooks</a:t>
            </a:r>
          </a:p>
          <a:p xmlns:a="http://schemas.openxmlformats.org/drawingml/2006/main">
            <a:pPr algn="l">
              <a:defRPr sz="1725" b="1">
                <a:solidFill>
                  <a:srgbClr val="0D1B16"/>
                </a:solidFill>
              </a:defRPr>
            </a:pPr>
            <a:r>
              <a:rPr sz="1725" b="1">
                <a:solidFill>
                  <a:srgbClr val="0D1B16"/>
                </a:solidFill>
              </a:rPr>
              <a:t>Prompt feedback</a:t>
            </a:r>
          </a:p>
          <a:p xmlns:a="http://schemas.openxmlformats.org/drawingml/2006/main">
            <a:pPr algn="l">
              <a:defRPr sz="1725" b="1">
                <a:solidFill>
                  <a:srgbClr val="0D1B16"/>
                </a:solidFill>
              </a:defRPr>
            </a:pPr>
            <a:r>
              <a:rPr sz="1725" b="1">
                <a:solidFill>
                  <a:srgbClr val="0D1B16"/>
                </a:solidFill>
              </a:rPr>
              <a:t>Tool guidance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34AED-2031-498A-82FD-57C600E3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B63"/>
                </a:solidFill>
              </a:defRPr>
            </a:pPr>
            <a:r>
              <a:rPr sz="1650" b="0">
                <a:solidFill>
                  <a:srgbClr val="5B6B63"/>
                </a:solidFill>
              </a:rPr>
              <a:t>Fast generation for onboarding; deeper reasoning for coaching workflows.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5699FC-1E87-4AED-98E8-A797CC21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B63"/>
                </a:solidFill>
              </a:defRPr>
            </a:pPr>
            <a:r>
              <a:rPr sz="825" b="1">
                <a:solidFill>
                  <a:srgbClr val="5B6B63"/>
                </a:solidFill>
              </a:rPr>
              <a:t>LESSAI  /  AI BUILDERS HACKATHON  /  06</a:t>
            </a:r>
          </a:p>
        </p:txBody>
      </p:sp>
    </p:spTree>
    <p:extLst>
      <p:ext uri="{BB962C8B-B14F-4D97-AF65-F5344CB8AC3E}">
        <p14:creationId xmlns:p14="http://schemas.microsoft.com/office/powerpoint/2010/main" val="10145209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2BB7D6-DBF7-45EC-8AE7-57A57F88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TECHNICAL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FD6FA-228A-4121-9058-916B7A4B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D1B16"/>
                </a:solidFill>
              </a:defRPr>
            </a:pPr>
            <a:r>
              <a:rPr sz="2925" b="1">
                <a:solidFill>
                  <a:srgbClr val="0D1B16"/>
                </a:solidFill>
              </a:rPr>
              <a:t>Built as a complete, secure product.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0BFBA-34A2-4E9B-8E49-816ABA35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B63"/>
                </a:solidFill>
              </a:defRPr>
            </a:pPr>
            <a:r>
              <a:rPr sz="1425" b="0">
                <a:solidFill>
                  <a:srgbClr val="5B6B63"/>
                </a:solidFill>
              </a:rPr>
              <a:t>A production-oriented web stack supports the working prototype.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EB8E7-520F-47F7-9B91-388CE12A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C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240B2-F355-48D8-94C2-B60AF9F1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998E0-9B40-4CF8-A9EC-0A2FAD3F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1B16"/>
                </a:solidFill>
              </a:defRPr>
            </a:pPr>
            <a:r>
              <a:rPr sz="1275" b="1">
                <a:solidFill>
                  <a:srgbClr val="0D1B16"/>
                </a:solidFill>
              </a:rPr>
              <a:t>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55765-3B3D-44DB-95B0-B0AA8D68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9557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63"/>
                </a:solidFill>
              </a:defRPr>
            </a:pPr>
            <a:r>
              <a:rPr sz="1275" b="0">
                <a:solidFill>
                  <a:srgbClr val="5B6B63"/>
                </a:solidFill>
              </a:rPr>
              <a:t>Next.js 16 • React 19 • TypeScript • Tailwind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530B8-3008-472D-ABF1-F20EE638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8204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B4528-CB3E-41A7-AB5C-426E8D68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1B16"/>
                </a:solidFill>
              </a:defRPr>
            </a:pPr>
            <a:r>
              <a:rPr sz="1275" b="1">
                <a:solidFill>
                  <a:srgbClr val="0D1B16"/>
                </a:solidFill>
              </a:rPr>
              <a:t>Application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7732D-C7FE-47E8-AD8A-24787BA8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6707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63"/>
                </a:solidFill>
              </a:defRPr>
            </a:pPr>
            <a:r>
              <a:rPr sz="1275" b="0">
                <a:solidFill>
                  <a:srgbClr val="5B6B63"/>
                </a:solidFill>
              </a:rPr>
              <a:t>Route handlers for AI, tasks, scraping, billing, email, and scheduled jobs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A0806-BD3C-45E2-9260-6E14857F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8204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237ED8-AA30-4732-BDF8-BFB699C2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38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1B16"/>
                </a:solidFill>
              </a:defRPr>
            </a:pPr>
            <a:r>
              <a:rPr sz="1275" b="1">
                <a:solidFill>
                  <a:srgbClr val="0D1B16"/>
                </a:solidFill>
              </a:rPr>
              <a:t>Intelligence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78E9F-DDBE-4FC9-8A57-7BBAA69D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3857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63"/>
                </a:solidFill>
              </a:defRPr>
            </a:pPr>
            <a:r>
              <a:rPr sz="1275" b="0">
                <a:solidFill>
                  <a:srgbClr val="5B6B63"/>
                </a:solidFill>
              </a:rPr>
              <a:t>OpenRouter • Claude Haiku 4.5 for fast onboarding • Claude Sonnet 4.5 for coaching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D5176-02FE-4BE2-817B-10D67BE8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8204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238E8-04A8-4BB0-A56B-047DDAA3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1B16"/>
                </a:solidFill>
              </a:defRPr>
            </a:pPr>
            <a:r>
              <a:rPr sz="1275" b="1">
                <a:solidFill>
                  <a:srgbClr val="0D1B16"/>
                </a:solidFill>
              </a:rPr>
              <a:t>Data &amp; trust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E5BEC-D666-403C-A06C-91EBFF9E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1007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63"/>
                </a:solidFill>
              </a:defRPr>
            </a:pPr>
            <a:r>
              <a:rPr sz="1275" b="0">
                <a:solidFill>
                  <a:srgbClr val="5B6B63"/>
                </a:solidFill>
              </a:rPr>
              <a:t>Supabase Auth + PostgreSQL + Row Level Security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D0047-D167-459E-B511-35F92194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7CC0FB-8209-463A-91D1-6D359992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81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1B16"/>
                </a:solidFill>
              </a:defRPr>
            </a:pPr>
            <a:r>
              <a:rPr sz="1275" b="1">
                <a:solidFill>
                  <a:srgbClr val="0D1B16"/>
                </a:solidFill>
              </a:rPr>
              <a:t>Integrations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B8500-CCDC-47A3-9ED3-B3AEBE4E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8157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63"/>
                </a:solidFill>
              </a:defRPr>
            </a:pPr>
            <a:r>
              <a:rPr sz="1275" b="0">
                <a:solidFill>
                  <a:srgbClr val="5B6B63"/>
                </a:solidFill>
              </a:rPr>
              <a:t>Stripe • Resend • Vercel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E6C624-5B8A-4449-B21C-D49FB778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1B16"/>
                </a:solidFill>
              </a:defRPr>
            </a:pPr>
            <a:r>
              <a:rPr sz="1500" b="1">
                <a:solidFill>
                  <a:srgbClr val="0D1B16"/>
                </a:solidFill>
              </a:rPr>
              <a:t>Personal data and AI-provider credentials remain server-side; database policies scope data to each user.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36CE46-49D6-4351-9E0F-5C13EDD0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B63"/>
                </a:solidFill>
              </a:defRPr>
            </a:pPr>
            <a:r>
              <a:rPr sz="825" b="1">
                <a:solidFill>
                  <a:srgbClr val="5B6B63"/>
                </a:solidFill>
              </a:rPr>
              <a:t>LESSAI  /  AI BUILDERS HACKATHON  /  07</a:t>
            </a:r>
          </a:p>
        </p:txBody>
      </p:sp>
    </p:spTree>
    <p:extLst>
      <p:ext uri="{BB962C8B-B14F-4D97-AF65-F5344CB8AC3E}">
        <p14:creationId xmlns:p14="http://schemas.microsoft.com/office/powerpoint/2010/main" val="1008033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2DB3A6-2435-4BF9-B032-22698590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WHY IT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EA138-6CD3-47D5-8E45-95EE0D00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D1B16"/>
                </a:solidFill>
              </a:defRPr>
            </a:pPr>
            <a:r>
              <a:rPr sz="2925" b="1">
                <a:solidFill>
                  <a:srgbClr val="0D1B16"/>
                </a:solidFill>
              </a:rPr>
              <a:t>LessAI gives each stakeholder a reason to return.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5DE9D-8A07-4BE8-ADF9-6750E43B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C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2C999-6271-4D5B-B2E7-8BEE47C4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2385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8C2AE-132C-47E9-A10E-109E1F1B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ED326-B975-4068-BCA3-6070BD2A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528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D1B16"/>
                </a:solidFill>
              </a:defRPr>
            </a:pPr>
            <a:r>
              <a:rPr sz="1950" b="1">
                <a:solidFill>
                  <a:srgbClr val="0D1B16"/>
                </a:solidFill>
              </a:rPr>
              <a:t>Employee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CC7F2-E5F9-48AB-BD8C-009373A5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63"/>
                </a:solidFill>
              </a:defRPr>
            </a:pPr>
            <a:r>
              <a:rPr sz="1350" b="0">
                <a:solidFill>
                  <a:srgbClr val="5B6B63"/>
                </a:solidFill>
              </a:rPr>
              <a:t>Gets useful, contextual guidance instead of generic advice.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F136D-B691-471B-AC46-26D81E19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32385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4A616-4008-43E6-A152-04B1D062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956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9E98C-2196-4977-9355-DDD62A1C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528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D1B16"/>
                </a:solidFill>
              </a:defRPr>
            </a:pPr>
            <a:r>
              <a:rPr sz="1950" b="1">
                <a:solidFill>
                  <a:srgbClr val="0D1B16"/>
                </a:solidFill>
              </a:rPr>
              <a:t>Manager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DF955-1E5A-41F0-9108-29CE9D74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63"/>
                </a:solidFill>
              </a:defRPr>
            </a:pPr>
            <a:r>
              <a:rPr sz="1350" b="0">
                <a:solidFill>
                  <a:srgbClr val="5B6B63"/>
                </a:solidFill>
              </a:rPr>
              <a:t>Sees where AI practice is happening — and where coaching is needed.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6A245-D954-421D-B9FC-256622D4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32385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7D473-0578-4238-A811-806DC8BD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956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BF8CA-05B5-43D4-B02E-3433856A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528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D1B16"/>
                </a:solidFill>
              </a:defRPr>
            </a:pPr>
            <a:r>
              <a:rPr sz="1950" b="1">
                <a:solidFill>
                  <a:srgbClr val="0D1B16"/>
                </a:solidFill>
              </a:rPr>
              <a:t>Company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3016B-9F6D-48FA-80E1-56A8126A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5765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63"/>
                </a:solidFill>
              </a:defRPr>
            </a:pPr>
            <a:r>
              <a:rPr sz="1350" b="0">
                <a:solidFill>
                  <a:srgbClr val="5B6B63"/>
                </a:solidFill>
              </a:rPr>
              <a:t>Turns AI tooling spend into a scalable enablement system.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71105-3CF1-4310-87FC-D4AA7BE2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D1B16"/>
                </a:solidFill>
              </a:defRPr>
            </a:pPr>
            <a:r>
              <a:rPr sz="1950" b="1">
                <a:solidFill>
                  <a:srgbClr val="0D1B16"/>
                </a:solidFill>
              </a:rPr>
              <a:t>A shared measure of progress makes AI enablement coachable, not assumed.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A24A1-AED2-4DE3-8231-DC600331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B63"/>
                </a:solidFill>
              </a:defRPr>
            </a:pPr>
            <a:r>
              <a:rPr sz="825" b="1">
                <a:solidFill>
                  <a:srgbClr val="5B6B63"/>
                </a:solidFill>
              </a:rPr>
              <a:t>LESSAI  /  AI BUILDERS HACKATHON  /  08</a:t>
            </a:r>
          </a:p>
        </p:txBody>
      </p:sp>
    </p:spTree>
    <p:extLst>
      <p:ext uri="{BB962C8B-B14F-4D97-AF65-F5344CB8AC3E}">
        <p14:creationId xmlns:p14="http://schemas.microsoft.com/office/powerpoint/2010/main" val="93611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C1304-FCD4-4433-9AEF-47DED9C7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WHAT IS LIVE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7F02D-AC86-4334-858B-091EC942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D1B16"/>
                </a:solidFill>
              </a:defRPr>
            </a:pPr>
            <a:r>
              <a:rPr sz="2925" b="1">
                <a:solidFill>
                  <a:srgbClr val="0D1B16"/>
                </a:solidFill>
              </a:rPr>
              <a:t>A working product, ready to judge.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5FB65-16B7-4302-B3A5-75F4E6EB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B63"/>
                </a:solidFill>
              </a:defRPr>
            </a:pPr>
            <a:r>
              <a:rPr sz="1425" b="0">
                <a:solidFill>
                  <a:srgbClr val="5B6B63"/>
                </a:solidFill>
              </a:rPr>
              <a:t>The prototype is designed to be judged through a real product 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B7910-AF52-4714-9336-D8C72C12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C"/>
          </a:solidFill>
          <a:ln xmlns:a="http://schemas.openxmlformats.org/drawingml/2006/main" w="9525">
            <a:solidFill>
              <a:srgbClr val="D8E2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67158-230A-45D2-A140-35574649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82AA3-F87A-4A8F-8C64-022FE298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D1B16"/>
                </a:solidFill>
              </a:defRPr>
            </a:pPr>
            <a:r>
              <a:rPr sz="1425" b="0">
                <a:solidFill>
                  <a:srgbClr val="0D1B16"/>
                </a:solidFill>
              </a:rPr>
              <a:t>Context-aware onboarding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5B0B0-9CB7-4AA9-A8FC-15669AA4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622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9BADE-9970-480B-977A-C78FC1AA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D1B16"/>
                </a:solidFill>
              </a:defRPr>
            </a:pPr>
            <a:r>
              <a:rPr sz="1425" b="0">
                <a:solidFill>
                  <a:srgbClr val="0D1B16"/>
                </a:solidFill>
              </a:rPr>
              <a:t>Personalized task-path generation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28917-D707-4F11-BAB1-D33BA125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E166C-1D21-492B-AA5D-42208F5F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D1B16"/>
                </a:solidFill>
              </a:defRPr>
            </a:pPr>
            <a:r>
              <a:rPr sz="1425" b="0">
                <a:solidFill>
                  <a:srgbClr val="0D1B16"/>
                </a:solidFill>
              </a:rPr>
              <a:t>Prompt playbooks and tool guides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02ACF-72F5-48CF-8DF9-DD077F23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71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2CE5B-DE9D-4FDD-A7A8-B93370BD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7660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D1B16"/>
                </a:solidFill>
              </a:defRPr>
            </a:pPr>
            <a:r>
              <a:rPr sz="1425" b="0">
                <a:solidFill>
                  <a:srgbClr val="0D1B16"/>
                </a:solidFill>
              </a:rPr>
              <a:t>Prompt Lab scoring and rewrite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7792D-2543-4597-9AE6-13DF2947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90416-DB7F-48EC-8AA9-8B625E5A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D1B16"/>
                </a:solidFill>
              </a:defRPr>
            </a:pPr>
            <a:r>
              <a:rPr sz="1425" b="0">
                <a:solidFill>
                  <a:srgbClr val="0D1B16"/>
                </a:solidFill>
              </a:rPr>
              <a:t>AI Command Center recommendations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01CB0-BF8B-4D37-8E24-2C4F0A60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81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E45AB-7F14-47D6-8871-121837BF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D1B16"/>
                </a:solidFill>
              </a:defRPr>
            </a:pPr>
            <a:r>
              <a:rPr sz="1425" b="0">
                <a:solidFill>
                  <a:srgbClr val="0D1B16"/>
                </a:solidFill>
              </a:rPr>
              <a:t>Saved prompts, XP, and streaks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2ACBE9-F76A-41D2-860E-326835FD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B94A83-96C8-467E-9D82-553DAFBA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D1B16"/>
                </a:solidFill>
              </a:defRPr>
            </a:pPr>
            <a:r>
              <a:rPr sz="1425" b="0">
                <a:solidFill>
                  <a:srgbClr val="0D1B16"/>
                </a:solidFill>
              </a:rPr>
              <a:t>Team dashboard and invitations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8EAFCF-6BBF-4BBA-AC7F-DB43FC96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91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835EF8-D8F2-4934-8350-A4206900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9580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D1B16"/>
                </a:solidFill>
              </a:defRPr>
            </a:pPr>
            <a:r>
              <a:rPr sz="1425" b="0">
                <a:solidFill>
                  <a:srgbClr val="0D1B16"/>
                </a:solidFill>
              </a:rPr>
              <a:t>Authentication, billing, and email workflows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253836-B9E7-4A98-9238-936064D4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62C23"/>
          </a:solidFill>
          <a:ln xmlns:a="http://schemas.openxmlformats.org/drawingml/2006/main" w="9525">
            <a:solidFill>
              <a:srgbClr val="062C2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D7B13D-BB89-42D7-B07F-33AADB1F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578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Live demo path: onboarding → personalized tasks → Prompt Lab → Command Center → team dashboard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1CC9D1-20F2-4945-B1A2-35F8C955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B63"/>
                </a:solidFill>
              </a:defRPr>
            </a:pPr>
            <a:r>
              <a:rPr sz="825" b="1">
                <a:solidFill>
                  <a:srgbClr val="5B6B63"/>
                </a:solidFill>
              </a:rPr>
              <a:t>LESSAI  /  AI BUILDERS HACKATHON  /  09</a:t>
            </a:r>
          </a:p>
        </p:txBody>
      </p:sp>
    </p:spTree>
    <p:extLst>
      <p:ext uri="{BB962C8B-B14F-4D97-AF65-F5344CB8AC3E}">
        <p14:creationId xmlns:p14="http://schemas.microsoft.com/office/powerpoint/2010/main" val="841726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2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780A6-0553-46D8-B9B7-58103CDA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E7B7"/>
                </a:solidFill>
              </a:defRPr>
            </a:pPr>
            <a:r>
              <a:rPr sz="1050" b="1">
                <a:solidFill>
                  <a:srgbClr val="6EE7B7"/>
                </a:solidFill>
              </a:rPr>
              <a:t>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7539B-3226-4E1F-AEAE-17117B6A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524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From useful coaching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to measured enablement.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0E61D-5BCA-4400-8B6B-4A0D78D1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32004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B3D31"/>
          </a:solidFill>
          <a:ln xmlns:a="http://schemas.openxmlformats.org/drawingml/2006/main" w="9525">
            <a:solidFill>
              <a:srgbClr val="1E66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8FBAB-69F8-4078-B334-BAA9E6E3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E7B7"/>
                </a:solidFill>
              </a:defRPr>
            </a:pPr>
            <a:r>
              <a:rPr sz="1050" b="1">
                <a:solidFill>
                  <a:srgbClr val="6EE7B7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FE2E9-AA68-4635-BDAA-992E4E64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Pilot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73BF4-16A0-4447-977E-646BBFE4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1FAE5"/>
                </a:solidFill>
              </a:defRPr>
            </a:pPr>
            <a:r>
              <a:rPr sz="1200" b="0">
                <a:solidFill>
                  <a:srgbClr val="D1FAE5"/>
                </a:solidFill>
              </a:rPr>
              <a:t>Test with a small team; measure activation, completion, and prompt-quality improvement.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EF3E6-798E-4C6A-8C73-15979153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86150"/>
            <a:ext cx="32004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B3D31"/>
          </a:solidFill>
          <a:ln xmlns:a="http://schemas.openxmlformats.org/drawingml/2006/main" w="9525">
            <a:solidFill>
              <a:srgbClr val="1E665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CC237-DDB0-4401-86FB-70B6F53A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E7B7"/>
                </a:solidFill>
              </a:defRPr>
            </a:pPr>
            <a:r>
              <a:rPr sz="1050" b="1">
                <a:solidFill>
                  <a:srgbClr val="6EE7B7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CD94C-1CDF-48B2-AC80-B26AB073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57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7531B-18F4-447C-8763-3ADF1C00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577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1FAE5"/>
                </a:solidFill>
              </a:defRPr>
            </a:pPr>
            <a:r>
              <a:rPr sz="1200" b="0">
                <a:solidFill>
                  <a:srgbClr val="D1FAE5"/>
                </a:solidFill>
              </a:rPr>
              <a:t>Add outcome-oriented manager reports and role-level skill-gap insights.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5A4B4-A3FA-47F2-9D25-620262A8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86150"/>
            <a:ext cx="32004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B3D31"/>
          </a:solidFill>
          <a:ln xmlns:a="http://schemas.openxmlformats.org/drawingml/2006/main" w="9525">
            <a:solidFill>
              <a:srgbClr val="1E66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8AE25-9FFD-47F1-A8DB-C94807D9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14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E7B7"/>
                </a:solidFill>
              </a:defRPr>
            </a:pPr>
            <a:r>
              <a:rPr sz="1050" b="1">
                <a:solidFill>
                  <a:srgbClr val="6EE7B7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5B31E-2841-4184-9DFB-BC881B09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57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FC0F1-C96C-4347-A194-CE4044A7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577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1FAE5"/>
                </a:solidFill>
              </a:defRPr>
            </a:pPr>
            <a:r>
              <a:rPr sz="1200" b="0">
                <a:solidFill>
                  <a:srgbClr val="D1FAE5"/>
                </a:solidFill>
              </a:rPr>
              <a:t>Add approved prompt standards and shared team workflows.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7E6D67-D23F-4E20-90C1-D0CFD5E4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EEAD4"/>
                </a:solidFill>
              </a:defRPr>
            </a:pPr>
            <a:r>
              <a:rPr sz="2175" b="1">
                <a:solidFill>
                  <a:srgbClr val="5EEAD4"/>
                </a:solidFill>
              </a:rPr>
              <a:t>Less AI noise. More AI coaching.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FC41A6-559B-42FC-9EDE-505B16E9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810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lessai.io</a:t>
            </a:r>
          </a:p>
        </p:txBody>
      </p:sp>
    </p:spTree>
    <p:extLst>
      <p:ext uri="{BB962C8B-B14F-4D97-AF65-F5344CB8AC3E}">
        <p14:creationId xmlns:p14="http://schemas.microsoft.com/office/powerpoint/2010/main" val="1229377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2026-08-27T15:05:12.9590000Z</dcterms:created>
  <dcterms:modified xsi:type="dcterms:W3CDTF">2026-08-27T15:05:12.9590000Z</dcterms:modified>
</coreProperties>
</file>